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19"/>
  </p:notesMasterIdLst>
  <p:sldIdLst>
    <p:sldId id="1864" r:id="rId2"/>
    <p:sldId id="1878" r:id="rId3"/>
    <p:sldId id="1884" r:id="rId4"/>
    <p:sldId id="1883" r:id="rId5"/>
    <p:sldId id="1872" r:id="rId6"/>
    <p:sldId id="1881" r:id="rId7"/>
    <p:sldId id="1882" r:id="rId8"/>
    <p:sldId id="1879" r:id="rId9"/>
    <p:sldId id="1874" r:id="rId10"/>
    <p:sldId id="1888" r:id="rId11"/>
    <p:sldId id="1875" r:id="rId12"/>
    <p:sldId id="1885" r:id="rId13"/>
    <p:sldId id="1877" r:id="rId14"/>
    <p:sldId id="1873" r:id="rId15"/>
    <p:sldId id="1886" r:id="rId16"/>
    <p:sldId id="1887" r:id="rId17"/>
    <p:sldId id="188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B52C7E-BE87-53A2-1C4C-89D0593C9EC9}" v="9" dt="2025-05-06T11:32:58.658"/>
  </p1510:revLst>
</p1510:revInfo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52F596-A780-44BC-AB2A-162C7D68402C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133F69-4D1D-4D60-B55A-B3AFACBDD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51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FA4671F7-4D2C-4B1E-AED7-24676BE8B4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47842D7-C728-4EBD-982B-B8BE79E4DBBE}" type="slidenum">
              <a:rPr lang="en-US" altLang="en-US"/>
              <a:pPr eaLnBrk="1" hangingPunct="1"/>
              <a:t>1</a:t>
            </a:fld>
            <a:endParaRPr lang="en-US" altLang="en-US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D8E83BD0-7AE4-4323-9047-FC368929C5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FDECF5EC-C5EC-4723-8F4F-A75A20018F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814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50D19-B579-7B1C-1D99-55104D7CF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78451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394FF-67E7-53FE-5EE3-62DF9C498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06156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F3D8F-21D0-E278-60ED-E61BAD628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09194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D48F7-AA00-F79C-FF99-61DDDED5B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52109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0551C-9D60-4B88-C035-6C6C38B28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52467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8F57F-F113-6E02-B2BF-3E24E81DE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0885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F6D31-3F61-3450-51DC-8DA1F8B76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95369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67006-7D50-9928-84F5-F54D390BE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58456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98429-38B5-CC6C-07EB-22FF5EFD6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6690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D5292-02E0-BFE3-F571-A1F381ACC6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AF6E03-3823-51C1-0704-4FB74BF7D2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08059-2AC4-9C43-877D-E22E2F43D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06D36-CE2C-4CD4-974C-E4CC3A2933BC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056D0-1C7C-2EC3-3127-661B03F29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DC43E5-6F85-A003-16BB-6C107D74A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9F285-D7CF-4D91-B5E7-2BD32EF19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014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BD68B-3042-4585-4BC1-FA9DE66E3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BD4FC-E6D4-EC50-4688-E0CF73AD5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9E0F5-13D4-F546-5E2F-AE0812EED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06D36-CE2C-4CD4-974C-E4CC3A2933BC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207AD-5456-AA49-47AB-78CC79ED7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31467-0614-096B-750C-E92C4430D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9F285-D7CF-4D91-B5E7-2BD32EF19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069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34860-ADAA-195F-CE93-70EB36222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5E5D82-CAF4-51A3-040E-6C2FA21EED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A66EDD-F240-6930-A580-EB2B0B020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06D36-CE2C-4CD4-974C-E4CC3A2933BC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7FCDA-139E-07A0-4328-6109ABC0D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FBC55-9F8E-7F9D-567D-BEB97139F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9F285-D7CF-4D91-B5E7-2BD32EF19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790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BD02F-7D13-4E84-FD86-792CEFE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CF9CF-F504-F3CC-6849-830C98C527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D9457-BE3A-3C7A-8998-2304B216D0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584D4-F94E-48D1-9D16-A20635AFD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06D36-CE2C-4CD4-974C-E4CC3A2933BC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12496C-4B7A-B187-A9EA-96C8F97D5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D5FACE-C071-5200-823D-72028956A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9F285-D7CF-4D91-B5E7-2BD32EF19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60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0309A-AB7A-A86F-E896-2ECC2A1BE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C8BAB9-6357-B7F4-CB8B-88E6C1196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48D2C4-1A41-78A8-C3F8-67029A3A9D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B14146-A630-24F1-0714-F54383BE5D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C8EDB7-CD24-9B9B-A08F-920EB15A51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2A0F4C-2748-EA4F-45D1-ACBA5250A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06D36-CE2C-4CD4-974C-E4CC3A2933BC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F33E97-D6E4-4912-3C01-EFD3DF607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7BAACA-B926-3AAE-723F-E89BAB9C9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9F285-D7CF-4D91-B5E7-2BD32EF19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6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CD2E7-BDCF-190A-AE96-4273BE4D2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7491FB-5B26-352C-4E1C-E3120F0DF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06D36-CE2C-4CD4-974C-E4CC3A2933BC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7FD7D2-279C-FDAF-5E3D-F56D242CC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8866F-6BCD-8125-E400-58B1DEC25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9F285-D7CF-4D91-B5E7-2BD32EF19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315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559CFC-81F3-6810-9724-F51CA7DDB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06D36-CE2C-4CD4-974C-E4CC3A2933BC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F77AD4-F6AA-3D71-E137-52D0C9E29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993E0-9656-1789-D689-623C964E7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9F285-D7CF-4D91-B5E7-2BD32EF19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231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BF67C-41EA-3939-ACA6-6BF8B1FF6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E5A9E-2E08-0382-8031-0D3C9006D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CF5819-C194-8E6F-DA46-9C36F10D71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244E7-AC37-D10B-D6B4-996558BD1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06D36-CE2C-4CD4-974C-E4CC3A2933BC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BE63B7-A6BB-E8D8-EF4A-024307F8E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E408D1-087C-764F-545A-E86265179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9F285-D7CF-4D91-B5E7-2BD32EF19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972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28A5E-7296-8EAE-3CA7-934B6E2B0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3F7C5C-7625-574A-2F18-6ADBB72ED9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BA14DD-8528-8DBA-FA60-EF68459059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CD2075-7A47-DDB8-285A-8B191E474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06D36-CE2C-4CD4-974C-E4CC3A2933BC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80B1CB-3747-8515-BD56-60968C125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1FD96D-2566-4211-33C7-08BB30025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9F285-D7CF-4D91-B5E7-2BD32EF19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441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6F697-0F0B-D756-469E-A2F4EC029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A830AA-EA1F-10CF-8E96-4EE4C74D22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3B11D-611F-7CDD-92CD-A6CE6FFD3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06D36-CE2C-4CD4-974C-E4CC3A2933BC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BE66A3-97E3-B139-482F-8985A5AA6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298A0-5E39-7DC1-CDEB-8CBF2D74F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9F285-D7CF-4D91-B5E7-2BD32EF19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999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DBF9FB-C109-8C91-0DDE-5B6F0B47C5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083B8B-0958-76AB-F330-A53D62C6E4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DCA28-DA14-1EC3-8005-745D22000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06D36-CE2C-4CD4-974C-E4CC3A2933BC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40027D-25D6-E4CF-C18D-BBF21B763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D5AE2-E921-5E95-1386-E9F9B004D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9F285-D7CF-4D91-B5E7-2BD32EF19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9105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DB60B1-BEF5-4848-BB02-98EBFE355C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1"/>
            <a:ext cx="12191998" cy="685799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E7964CB-E75A-4A03-88D3-6A48EF650A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42012" y="2766219"/>
            <a:ext cx="6220101" cy="1325563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en-US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214311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0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7724906-4405-47F4-B533-7291B003B0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5301" y="1995467"/>
            <a:ext cx="9141397" cy="615553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1" i="0" kern="1200" cap="none" spc="-50" baseline="0" dirty="0">
                <a:ln w="3175"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1EEF53A4-35A6-4E43-B220-67DA381C591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96307" y="3260705"/>
            <a:ext cx="7799387" cy="15347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Insert content here</a:t>
            </a:r>
          </a:p>
        </p:txBody>
      </p:sp>
      <p:pic>
        <p:nvPicPr>
          <p:cNvPr id="6" name="Picture Placeholder 5" descr="Red, blue grey white pattern background">
            <a:extLst>
              <a:ext uri="{FF2B5EF4-FFF2-40B4-BE49-F238E27FC236}">
                <a16:creationId xmlns:a16="http://schemas.microsoft.com/office/drawing/2014/main" id="{906BF34F-6945-4E11-BAEC-F66F7254C4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99582"/>
            <a:ext cx="12192000" cy="85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7215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Phot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3F45076F-4240-4B40-8CE4-637DD751A6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3"/>
            <a:ext cx="5334000" cy="118903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Bef>
                <a:spcPts val="1000"/>
              </a:spcBef>
              <a:defRPr sz="40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498B63D-F60C-4A9D-8D3E-0C7CD748FE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905000"/>
            <a:ext cx="53340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228600">
              <a:lnSpc>
                <a:spcPct val="100000"/>
              </a:lnSpc>
              <a:spcBef>
                <a:spcPts val="1000"/>
              </a:spcBef>
              <a:defRPr sz="1800"/>
            </a:lvl2pPr>
          </a:lstStyle>
          <a:p>
            <a:pPr lvl="0"/>
            <a:r>
              <a:rPr lang="en-US"/>
              <a:t>Insert subtitle here</a:t>
            </a:r>
          </a:p>
          <a:p>
            <a:pPr lvl="1"/>
            <a:r>
              <a:rPr lang="en-US"/>
              <a:t>Insert content here</a:t>
            </a:r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827A95C0-AE8D-46E1-9EF9-64504CBEF99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58000" y="715963"/>
            <a:ext cx="4572000" cy="2362200"/>
          </a:xfrm>
          <a:prstGeom prst="rect">
            <a:avLst/>
          </a:prstGeom>
          <a:solidFill>
            <a:schemeClr val="tx2"/>
          </a:solidFill>
        </p:spPr>
        <p:txBody>
          <a:bodyPr>
            <a:normAutofit/>
          </a:bodyPr>
          <a:lstStyle>
            <a:lvl1pPr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89E410BA-B0FE-4F0E-8BE5-D33CC01663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58000" y="3305541"/>
            <a:ext cx="4572000" cy="2362200"/>
          </a:xfrm>
          <a:prstGeom prst="rect">
            <a:avLst/>
          </a:prstGeom>
          <a:solidFill>
            <a:schemeClr val="tx2"/>
          </a:solidFill>
        </p:spPr>
        <p:txBody>
          <a:bodyPr>
            <a:normAutofit/>
          </a:bodyPr>
          <a:lstStyle>
            <a:lvl1pPr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1" name="Picture Placeholder 5" descr="Red, blue grey white pattern background">
            <a:extLst>
              <a:ext uri="{FF2B5EF4-FFF2-40B4-BE49-F238E27FC236}">
                <a16:creationId xmlns:a16="http://schemas.microsoft.com/office/drawing/2014/main" id="{1014381E-E235-4624-9267-69EEEE9826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80922"/>
            <a:ext cx="12192000" cy="877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6190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7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clus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6" descr="Picture placeholder ">
            <a:extLst>
              <a:ext uri="{FF2B5EF4-FFF2-40B4-BE49-F238E27FC236}">
                <a16:creationId xmlns:a16="http://schemas.microsoft.com/office/drawing/2014/main" id="{21F9B252-B7D4-4DA8-92E8-8A98BFEF41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D9303A2-B30A-054C-B809-053B909E12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5301" y="1995467"/>
            <a:ext cx="9141397" cy="615553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1" i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0F58DD1-3970-D84D-8040-EF33B0971D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96307" y="3260705"/>
            <a:ext cx="7799387" cy="15347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Insert content here</a:t>
            </a:r>
          </a:p>
        </p:txBody>
      </p:sp>
    </p:spTree>
    <p:extLst>
      <p:ext uri="{BB962C8B-B14F-4D97-AF65-F5344CB8AC3E}">
        <p14:creationId xmlns:p14="http://schemas.microsoft.com/office/powerpoint/2010/main" val="1662892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3">
          <p15:clr>
            <a:srgbClr val="5ACBF0"/>
          </p15:clr>
        </p15:guide>
        <p15:guide id="4" orient="horz" pos="2488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A51FA1-5AA7-7137-078F-75E4AE251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25E5C-0A26-D147-48D9-6E3A4A3B6A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76BA9-552F-159E-CC56-70A872677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806D36-CE2C-4CD4-974C-E4CC3A2933BC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752814-74DE-981A-5ED4-67050BF874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5970B-137C-B4B5-4EB4-7D4654C7B3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29F285-D7CF-4D91-B5E7-2BD32EF19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481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5" r:id="rId13"/>
    <p:sldLayoutId id="2147483706" r:id="rId14"/>
    <p:sldLayoutId id="2147483707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masoudnickparvar/brain-tumor-mri-dataset/data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hinjawadi.rubyhall.com/early-detection-in-brain-tumor-diagnosis/" TargetMode="External"/><Relationship Id="rId2" Type="http://schemas.openxmlformats.org/officeDocument/2006/relationships/hyperlink" Target="https://www.kaggle.com/datasets/masoudnickparvar/brain-tumor-mri-dataset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pewresearch.org/short-reads/2023/11/08/the-changing-face-of-americas-veteran-population/" TargetMode="External"/><Relationship Id="rId4" Type="http://schemas.openxmlformats.org/officeDocument/2006/relationships/hyperlink" Target="https://clearhealthcosts.com/blog/2012/11/how-much-does-an-mri-cost-2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D2DB031-9003-4F74-A88F-FE2A2ABABC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60491" y="2123768"/>
            <a:ext cx="6942629" cy="3147886"/>
          </a:xfrm>
        </p:spPr>
        <p:txBody>
          <a:bodyPr anchor="ctr">
            <a:noAutofit/>
          </a:bodyPr>
          <a:lstStyle/>
          <a:p>
            <a:r>
              <a:rPr lang="en-US" altLang="en-US">
                <a:solidFill>
                  <a:schemeClr val="accent1">
                    <a:lumMod val="60000"/>
                    <a:lumOff val="40000"/>
                  </a:schemeClr>
                </a:solidFill>
              </a:rPr>
              <a:t>MA477 Project 3</a:t>
            </a:r>
            <a:br>
              <a:rPr lang="en-US" altLang="en-US">
                <a:solidFill>
                  <a:schemeClr val="accent2"/>
                </a:solidFill>
              </a:rPr>
            </a:br>
            <a:br>
              <a:rPr lang="en-US" altLang="en-US"/>
            </a:br>
            <a:r>
              <a:rPr lang="en-US" altLang="en-US" sz="2800"/>
              <a:t>CDT Ethan Collins &amp; CDT Ireland McCauley</a:t>
            </a:r>
            <a:endParaRPr lang="en-US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5B36B8-1038-F5F4-7E4C-91479B15C3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7497"/>
          <a:stretch/>
        </p:blipFill>
        <p:spPr>
          <a:xfrm>
            <a:off x="0" y="0"/>
            <a:ext cx="4375355" cy="6858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265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96FB9-0DA4-3671-3435-B8E00B26F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942" y="424122"/>
            <a:ext cx="9141397" cy="677108"/>
          </a:xfrm>
        </p:spPr>
        <p:txBody>
          <a:bodyPr/>
          <a:lstStyle/>
          <a:p>
            <a:r>
              <a:rPr lang="en-US" sz="4400">
                <a:solidFill>
                  <a:schemeClr val="bg1"/>
                </a:solidFill>
              </a:rPr>
              <a:t>Meet the Team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640243-40E5-E92E-14DF-049853FC2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80572" y="4082504"/>
            <a:ext cx="2942226" cy="1534757"/>
          </a:xfrm>
        </p:spPr>
        <p:txBody>
          <a:bodyPr/>
          <a:lstStyle/>
          <a:p>
            <a:r>
              <a:rPr lang="en-US" sz="2000">
                <a:solidFill>
                  <a:schemeClr val="bg1"/>
                </a:solidFill>
              </a:rPr>
              <a:t>Ethan Collins</a:t>
            </a:r>
          </a:p>
          <a:p>
            <a:r>
              <a:rPr lang="en-US" sz="2000">
                <a:solidFill>
                  <a:schemeClr val="bg1"/>
                </a:solidFill>
              </a:rPr>
              <a:t>CEO</a:t>
            </a:r>
          </a:p>
          <a:p>
            <a:r>
              <a:rPr lang="en-US">
                <a:solidFill>
                  <a:schemeClr val="bg1"/>
                </a:solidFill>
              </a:rPr>
              <a:t>Data Science Undergraduate, USMA</a:t>
            </a:r>
          </a:p>
        </p:txBody>
      </p:sp>
      <p:pic>
        <p:nvPicPr>
          <p:cNvPr id="7" name="Picture 6" descr="A person in uniform with a flag behind her&#10;&#10;AI-generated content may be incorrect.">
            <a:extLst>
              <a:ext uri="{FF2B5EF4-FFF2-40B4-BE49-F238E27FC236}">
                <a16:creationId xmlns:a16="http://schemas.microsoft.com/office/drawing/2014/main" id="{585A5438-6D39-279B-D767-88E0CEC956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0042" y="1970972"/>
            <a:ext cx="1989483" cy="1989483"/>
          </a:xfrm>
          <a:prstGeom prst="rect">
            <a:avLst/>
          </a:prstGeom>
          <a:solidFill>
            <a:srgbClr val="FFFFFF">
              <a:shade val="85000"/>
            </a:srgbClr>
          </a:solidFill>
          <a:ln w="381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Picture 8" descr="A person in a uniform&#10;&#10;AI-generated content may be incorrect.">
            <a:extLst>
              <a:ext uri="{FF2B5EF4-FFF2-40B4-BE49-F238E27FC236}">
                <a16:creationId xmlns:a16="http://schemas.microsoft.com/office/drawing/2014/main" id="{EDC098FD-9E43-A8D6-075B-3184BF9676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944" y="1970973"/>
            <a:ext cx="1989483" cy="1989483"/>
          </a:xfrm>
          <a:prstGeom prst="rect">
            <a:avLst/>
          </a:prstGeom>
          <a:solidFill>
            <a:srgbClr val="FFFFFF">
              <a:shade val="85000"/>
            </a:srgbClr>
          </a:solidFill>
          <a:ln w="381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D1425DD-1843-6C93-8456-834080C6603E}"/>
              </a:ext>
            </a:extLst>
          </p:cNvPr>
          <p:cNvSpPr txBox="1">
            <a:spLocks/>
          </p:cNvSpPr>
          <p:nvPr/>
        </p:nvSpPr>
        <p:spPr>
          <a:xfrm>
            <a:off x="7670777" y="4082504"/>
            <a:ext cx="3848011" cy="153475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chemeClr val="bg1"/>
                </a:solidFill>
              </a:rPr>
              <a:t>Ireland McCauley</a:t>
            </a:r>
          </a:p>
          <a:p>
            <a:r>
              <a:rPr lang="en-US" sz="2000">
                <a:solidFill>
                  <a:schemeClr val="bg1"/>
                </a:solidFill>
              </a:rPr>
              <a:t>CTO</a:t>
            </a:r>
          </a:p>
          <a:p>
            <a:r>
              <a:rPr lang="en-US" sz="2000">
                <a:solidFill>
                  <a:schemeClr val="bg1"/>
                </a:solidFill>
              </a:rPr>
              <a:t>Data Science Undergraduate, USMA</a:t>
            </a:r>
          </a:p>
          <a:p>
            <a:endParaRPr lang="en-US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ACAD220-2C7D-2BD8-D934-1C31666CE6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37802" y="1500808"/>
            <a:ext cx="3179679" cy="3179679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479407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F08E1-04D5-42DF-744F-0B7658563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8969EE-8826-E45B-1CD0-7C4EEBBD4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15963"/>
            <a:ext cx="5334000" cy="1189038"/>
          </a:xfrm>
        </p:spPr>
        <p:txBody>
          <a:bodyPr/>
          <a:lstStyle/>
          <a:p>
            <a:r>
              <a:rPr lang="en-US">
                <a:solidFill>
                  <a:schemeClr val="accent1">
                    <a:lumMod val="60000"/>
                    <a:lumOff val="40000"/>
                  </a:schemeClr>
                </a:solidFill>
              </a:rPr>
              <a:t>Problem</a:t>
            </a:r>
          </a:p>
        </p:txBody>
      </p:sp>
      <p:sp>
        <p:nvSpPr>
          <p:cNvPr id="9219" name="Rectangle 8">
            <a:extLst>
              <a:ext uri="{FF2B5EF4-FFF2-40B4-BE49-F238E27FC236}">
                <a16:creationId xmlns:a16="http://schemas.microsoft.com/office/drawing/2014/main" id="{2E2124BD-DB5D-4B2C-A452-5463E8B6A3FF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>
          <a:xfrm>
            <a:off x="762000" y="1696278"/>
            <a:ext cx="11027924" cy="397469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en-US" sz="2000" dirty="0"/>
              <a:t>“According to the WHO, proper brain tumor diagnosis involves detection, brain tumor location identification, and classification of the tumor on the basis of malignancy, grade, and type” (</a:t>
            </a:r>
            <a:r>
              <a:rPr lang="en-US" altLang="en-US" sz="2000" dirty="0" err="1"/>
              <a:t>Nickparvar</a:t>
            </a:r>
            <a:r>
              <a:rPr lang="en-US" altLang="en-US" sz="2000" dirty="0"/>
              <a:t>).</a:t>
            </a:r>
          </a:p>
          <a:p>
            <a:endParaRPr lang="en-US" altLang="en-US" sz="2000" dirty="0"/>
          </a:p>
          <a:p>
            <a:r>
              <a:rPr lang="en-US" altLang="en-US" sz="2000" dirty="0"/>
              <a:t>Early, accurate cancer diagnosis is crucial for a positive prognosis. Leads to:</a:t>
            </a:r>
          </a:p>
          <a:p>
            <a:pPr marL="571500" lvl="1" indent="-342900">
              <a:buFontTx/>
              <a:buChar char="-"/>
            </a:pPr>
            <a:r>
              <a:rPr lang="en-US" altLang="en-US" sz="2000" dirty="0"/>
              <a:t>Improved patient outcomes</a:t>
            </a:r>
          </a:p>
          <a:p>
            <a:pPr marL="571500" lvl="1" indent="-342900">
              <a:buFontTx/>
              <a:buChar char="-"/>
            </a:pPr>
            <a:r>
              <a:rPr lang="en-US" altLang="en-US" sz="2000" dirty="0"/>
              <a:t>Personalized treatment</a:t>
            </a:r>
          </a:p>
          <a:p>
            <a:pPr marL="571500" lvl="1" indent="-342900">
              <a:buFontTx/>
              <a:buChar char="-"/>
            </a:pPr>
            <a:r>
              <a:rPr lang="en-US" altLang="en-US" sz="2000" dirty="0"/>
              <a:t>Increased survival rates and quality of life</a:t>
            </a:r>
          </a:p>
          <a:p>
            <a:pPr marL="571500" lvl="1" indent="-342900">
              <a:buFontTx/>
              <a:buChar char="-"/>
            </a:pPr>
            <a:endParaRPr lang="en-US" altLang="en-US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58DDC85-7284-49C1-A3C4-2B779B86BD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8961" r="916" b="-16345"/>
          <a:stretch/>
        </p:blipFill>
        <p:spPr>
          <a:xfrm>
            <a:off x="0" y="5953539"/>
            <a:ext cx="12192000" cy="2244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951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B623A-6DBD-742C-8B5E-6E3DDF1F7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9530F-684B-9DA5-8C25-B3260754A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1">
                    <a:lumMod val="60000"/>
                    <a:lumOff val="40000"/>
                  </a:schemeClr>
                </a:solidFill>
              </a:rPr>
              <a:t>Objective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3442C3-1F3A-9E73-5197-5090C0E2D8A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42279" y="3037512"/>
            <a:ext cx="10507439" cy="782975"/>
          </a:xfrm>
        </p:spPr>
        <p:txBody>
          <a:bodyPr/>
          <a:lstStyle/>
          <a:p>
            <a:r>
              <a:rPr lang="en-US" sz="2400" b="1">
                <a:solidFill>
                  <a:schemeClr val="tx1"/>
                </a:solidFill>
              </a:rPr>
              <a:t>NeuroVis seeks to utilize ML methods to improve brain cancer tumor diagnosis.</a:t>
            </a:r>
          </a:p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2B7B81-8C46-FF59-E66B-2D5C7DDAE9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8961" r="916" b="-16345"/>
          <a:stretch/>
        </p:blipFill>
        <p:spPr>
          <a:xfrm>
            <a:off x="0" y="5953539"/>
            <a:ext cx="12192000" cy="2244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756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C810E-23EE-A578-5C2C-DD681C0E2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1">
                    <a:lumMod val="60000"/>
                    <a:lumOff val="40000"/>
                  </a:schemeClr>
                </a:solidFill>
              </a:rPr>
              <a:t>Pitch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FA7AF8-91E1-B837-E501-5DDA9B3D456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42279" y="3037512"/>
            <a:ext cx="10507439" cy="782975"/>
          </a:xfrm>
        </p:spPr>
        <p:txBody>
          <a:bodyPr/>
          <a:lstStyle/>
          <a:p>
            <a:r>
              <a:rPr lang="en-US" sz="2400" b="1" dirty="0">
                <a:solidFill>
                  <a:schemeClr val="tx1"/>
                </a:solidFill>
              </a:rPr>
              <a:t>We are seeking </a:t>
            </a:r>
            <a:r>
              <a:rPr lang="en-US" sz="2400" b="1" u="sng" dirty="0">
                <a:solidFill>
                  <a:schemeClr val="tx1"/>
                </a:solidFill>
              </a:rPr>
              <a:t>175 course points</a:t>
            </a:r>
            <a:r>
              <a:rPr lang="en-US" sz="2400" b="1" dirty="0">
                <a:solidFill>
                  <a:schemeClr val="tx1"/>
                </a:solidFill>
              </a:rPr>
              <a:t> in exchange for </a:t>
            </a:r>
            <a:r>
              <a:rPr lang="en-US" sz="2400" b="1" u="sng" dirty="0">
                <a:solidFill>
                  <a:schemeClr val="tx1"/>
                </a:solidFill>
              </a:rPr>
              <a:t>100% equity</a:t>
            </a:r>
            <a:r>
              <a:rPr lang="en-US" sz="2400" b="1" dirty="0">
                <a:solidFill>
                  <a:schemeClr val="tx1"/>
                </a:solidFill>
              </a:rPr>
              <a:t> in NeuroVis.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701126-966B-3C8A-830A-F35F3E103A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8961" r="916" b="-16345"/>
          <a:stretch/>
        </p:blipFill>
        <p:spPr>
          <a:xfrm>
            <a:off x="0" y="5953539"/>
            <a:ext cx="12192000" cy="2244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800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FFC22-FF4C-F8CD-E968-601BC6C47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07155B5-49A1-A194-EA0E-1272BBADC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15963"/>
            <a:ext cx="5334000" cy="1189038"/>
          </a:xfrm>
        </p:spPr>
        <p:txBody>
          <a:bodyPr/>
          <a:lstStyle/>
          <a:p>
            <a:r>
              <a:rPr lang="en-US">
                <a:solidFill>
                  <a:schemeClr val="accent1">
                    <a:lumMod val="60000"/>
                    <a:lumOff val="40000"/>
                  </a:schemeClr>
                </a:solidFill>
              </a:rPr>
              <a:t>Data Description</a:t>
            </a:r>
          </a:p>
        </p:txBody>
      </p:sp>
      <p:sp>
        <p:nvSpPr>
          <p:cNvPr id="9219" name="Rectangle 8">
            <a:extLst>
              <a:ext uri="{FF2B5EF4-FFF2-40B4-BE49-F238E27FC236}">
                <a16:creationId xmlns:a16="http://schemas.microsoft.com/office/drawing/2014/main" id="{AFC7CA2A-3E18-621E-C598-BA47CD1CC0A8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>
          <a:xfrm>
            <a:off x="761999" y="1905000"/>
            <a:ext cx="11027924" cy="3276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en-US" sz="2000" dirty="0"/>
              <a:t>Brain Tumor MRI Dataset:</a:t>
            </a:r>
          </a:p>
          <a:p>
            <a:pPr marL="285750" indent="-285750">
              <a:buFontTx/>
              <a:buChar char="-"/>
            </a:pPr>
            <a:r>
              <a:rPr lang="en-US" altLang="en-US" sz="2000" b="0" dirty="0"/>
              <a:t>7023 images of human brain MRI images</a:t>
            </a:r>
          </a:p>
          <a:p>
            <a:pPr marL="514350" lvl="1" indent="-285750">
              <a:buFontTx/>
              <a:buChar char="-"/>
            </a:pPr>
            <a:r>
              <a:rPr lang="en-US" altLang="en-US" sz="2000" dirty="0"/>
              <a:t>4 classes: glioma, meningioma, no tumor, and pituitary</a:t>
            </a:r>
          </a:p>
          <a:p>
            <a:pPr marL="514350" lvl="1" indent="-285750">
              <a:buFontTx/>
              <a:buChar char="-"/>
            </a:pPr>
            <a:r>
              <a:rPr lang="en-US" altLang="en-US" sz="2000" dirty="0"/>
              <a:t>Combination of 3 Datasets</a:t>
            </a:r>
          </a:p>
          <a:p>
            <a:pPr marL="514350" lvl="1" indent="-285750">
              <a:buFontTx/>
              <a:buChar char="-"/>
            </a:pPr>
            <a:r>
              <a:rPr lang="en-US" altLang="en-US" sz="2000" dirty="0"/>
              <a:t>5712 Training, 1311 Testing</a:t>
            </a:r>
          </a:p>
          <a:p>
            <a:pPr marL="514350" lvl="1" indent="-285750">
              <a:buFontTx/>
              <a:buChar char="-"/>
            </a:pPr>
            <a:r>
              <a:rPr lang="en-US" altLang="en-US" sz="2000" dirty="0"/>
              <a:t>Sourced from Kaggle: </a:t>
            </a:r>
            <a:r>
              <a:rPr lang="en-US" altLang="en-US" sz="1600" dirty="0">
                <a:hlinkClick r:id="rId3"/>
              </a:rPr>
              <a:t>https://www.kaggle.com/datasets/masoudnickparvar/brain-tumor-mri-dataset/data</a:t>
            </a:r>
            <a:r>
              <a:rPr lang="en-US" altLang="en-US" sz="1600" dirty="0"/>
              <a:t>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37419ED-22D9-2EF2-7BD9-B7AA70589FA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8961" r="916" b="-16345"/>
          <a:stretch/>
        </p:blipFill>
        <p:spPr>
          <a:xfrm>
            <a:off x="0" y="5953539"/>
            <a:ext cx="12192000" cy="2244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07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CD427-5E8A-B453-2CB2-9235BAB09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1E38AFF-4B3F-8B67-B1A2-74406BCD6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15963"/>
            <a:ext cx="5334000" cy="1189038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Example Images</a:t>
            </a:r>
          </a:p>
        </p:txBody>
      </p:sp>
      <p:sp>
        <p:nvSpPr>
          <p:cNvPr id="9219" name="Rectangle 8">
            <a:extLst>
              <a:ext uri="{FF2B5EF4-FFF2-40B4-BE49-F238E27FC236}">
                <a16:creationId xmlns:a16="http://schemas.microsoft.com/office/drawing/2014/main" id="{9D9491FC-25CA-2B47-0C76-725241CC3F57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>
          <a:xfrm>
            <a:off x="761999" y="1905000"/>
            <a:ext cx="11027924" cy="3276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en-US" sz="2000" dirty="0"/>
              <a:t>Images are taken in either the axial or sagittal plane.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CB3719-8465-BBC0-7A76-A0416E2598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8961" r="916" b="-16345"/>
          <a:stretch/>
        </p:blipFill>
        <p:spPr>
          <a:xfrm>
            <a:off x="0" y="5953539"/>
            <a:ext cx="12192000" cy="2244989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59F390F-5980-5A8A-50AE-8CA4D24F5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8" y="2513498"/>
            <a:ext cx="10423239" cy="2831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4016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3DDFD-161E-DADB-72E1-8A3AD55C6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840B4C-A106-668E-7074-E1AC0FF5A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15963"/>
            <a:ext cx="5334000" cy="1189038"/>
          </a:xfrm>
        </p:spPr>
        <p:txBody>
          <a:bodyPr/>
          <a:lstStyle/>
          <a:p>
            <a:r>
              <a:rPr lang="en-US">
                <a:solidFill>
                  <a:schemeClr val="accent1">
                    <a:lumMod val="60000"/>
                    <a:lumOff val="40000"/>
                  </a:schemeClr>
                </a:solidFill>
              </a:rPr>
              <a:t>Methodology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12DD91-6427-530B-BDE9-1C413EDF8E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8961" r="916" b="-16345"/>
          <a:stretch/>
        </p:blipFill>
        <p:spPr>
          <a:xfrm>
            <a:off x="0" y="5953539"/>
            <a:ext cx="12192000" cy="224498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DA0B063-5373-EC2F-4624-2D4BAB6783B3}"/>
              </a:ext>
            </a:extLst>
          </p:cNvPr>
          <p:cNvSpPr/>
          <p:nvPr/>
        </p:nvSpPr>
        <p:spPr>
          <a:xfrm>
            <a:off x="2710152" y="2928489"/>
            <a:ext cx="1849289" cy="100078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Model Development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C01904-B2A2-47C4-4425-7501B3534565}"/>
              </a:ext>
            </a:extLst>
          </p:cNvPr>
          <p:cNvSpPr/>
          <p:nvPr/>
        </p:nvSpPr>
        <p:spPr>
          <a:xfrm>
            <a:off x="5054131" y="2928489"/>
            <a:ext cx="1927222" cy="100078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Model Tuning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272274-C1D4-0F0C-26D3-1C6C13D0FC0E}"/>
              </a:ext>
            </a:extLst>
          </p:cNvPr>
          <p:cNvSpPr/>
          <p:nvPr/>
        </p:nvSpPr>
        <p:spPr>
          <a:xfrm>
            <a:off x="7477623" y="2928489"/>
            <a:ext cx="1849289" cy="100078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Compare and Refine Models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77D1805-00A1-6411-13D8-1DEEBF53CBC6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2215462" y="3428880"/>
            <a:ext cx="49469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60EC60F-3585-B91C-5613-A616E3F34F5B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4559441" y="3428880"/>
            <a:ext cx="49469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D12C98D-8721-8373-1DB6-C4D1AF56A402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6981353" y="3428880"/>
            <a:ext cx="4962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F43261B8-B02D-B976-1178-FCE7171A0C2D}"/>
              </a:ext>
            </a:extLst>
          </p:cNvPr>
          <p:cNvSpPr/>
          <p:nvPr/>
        </p:nvSpPr>
        <p:spPr>
          <a:xfrm>
            <a:off x="9821602" y="2928489"/>
            <a:ext cx="1849289" cy="100078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Model Selection &amp; Deployment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B781AB7-3ADF-0C25-D5F6-4A8C6D8DF8C9}"/>
              </a:ext>
            </a:extLst>
          </p:cNvPr>
          <p:cNvCxnSpPr>
            <a:cxnSpLocks/>
            <a:stCxn id="8" idx="3"/>
            <a:endCxn id="28" idx="1"/>
          </p:cNvCxnSpPr>
          <p:nvPr/>
        </p:nvCxnSpPr>
        <p:spPr>
          <a:xfrm>
            <a:off x="9326912" y="3428880"/>
            <a:ext cx="49469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CEAE4F1B-2C7A-CBD7-4D2C-D114BA6E22CF}"/>
              </a:ext>
            </a:extLst>
          </p:cNvPr>
          <p:cNvSpPr/>
          <p:nvPr/>
        </p:nvSpPr>
        <p:spPr>
          <a:xfrm>
            <a:off x="366173" y="2928489"/>
            <a:ext cx="1849289" cy="100078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Image Preprocessing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7AE7E5-FC86-7EC4-0466-0D2A6B94AC29}"/>
              </a:ext>
            </a:extLst>
          </p:cNvPr>
          <p:cNvSpPr txBox="1"/>
          <p:nvPr/>
        </p:nvSpPr>
        <p:spPr>
          <a:xfrm>
            <a:off x="762000" y="1720334"/>
            <a:ext cx="104271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Our analysis pipeline is a robust process designed to create the most accurate models for tumor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1374377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6B51E-27C7-83C1-35E8-A57A4A36D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EF77F3-9DFB-12BD-CB63-E7B3411BE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15963"/>
            <a:ext cx="5334000" cy="1189038"/>
          </a:xfrm>
        </p:spPr>
        <p:txBody>
          <a:bodyPr/>
          <a:lstStyle/>
          <a:p>
            <a:r>
              <a:rPr lang="en-US">
                <a:solidFill>
                  <a:schemeClr val="accent1">
                    <a:lumMod val="60000"/>
                    <a:lumOff val="40000"/>
                  </a:schemeClr>
                </a:solidFill>
              </a:rPr>
              <a:t>Results</a:t>
            </a:r>
          </a:p>
        </p:txBody>
      </p:sp>
      <p:sp>
        <p:nvSpPr>
          <p:cNvPr id="9219" name="Rectangle 8">
            <a:extLst>
              <a:ext uri="{FF2B5EF4-FFF2-40B4-BE49-F238E27FC236}">
                <a16:creationId xmlns:a16="http://schemas.microsoft.com/office/drawing/2014/main" id="{4FD526EA-6780-F079-791E-4B58567E8B57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>
          <a:xfrm>
            <a:off x="762000" y="1676400"/>
            <a:ext cx="11027924" cy="3276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en-US" sz="2000"/>
              <a:t>The ResNet50 model performed the best in every category, including recall, our most relevant metric.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A2B8B67-FF21-4C2F-BEF4-EBE4D0E79A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8961" r="916" b="-16345"/>
          <a:stretch/>
        </p:blipFill>
        <p:spPr>
          <a:xfrm>
            <a:off x="0" y="5953539"/>
            <a:ext cx="12192000" cy="2244989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6E65068-9830-8566-A311-E9B488AF7E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1579220"/>
              </p:ext>
            </p:extLst>
          </p:nvPr>
        </p:nvGraphicFramePr>
        <p:xfrm>
          <a:off x="838200" y="2466230"/>
          <a:ext cx="10515600" cy="3079164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7242126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3597615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38995097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42466457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750165430"/>
                    </a:ext>
                  </a:extLst>
                </a:gridCol>
              </a:tblGrid>
              <a:tr h="769791">
                <a:tc>
                  <a:txBody>
                    <a:bodyPr/>
                    <a:lstStyle/>
                    <a:p>
                      <a:r>
                        <a:rPr lang="en-US" b="1" dirty="0"/>
                        <a:t>Model</a:t>
                      </a:r>
                      <a:endParaRPr lang="en-US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Accuracy</a:t>
                      </a:r>
                      <a:endParaRPr lang="en-US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Precision</a:t>
                      </a:r>
                      <a:endParaRPr lang="en-US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Recall</a:t>
                      </a:r>
                      <a:endParaRPr lang="en-US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F1 Score</a:t>
                      </a:r>
                      <a:endParaRPr lang="en-US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806936"/>
                  </a:ext>
                </a:extLst>
              </a:tr>
              <a:tr h="769791">
                <a:tc>
                  <a:txBody>
                    <a:bodyPr/>
                    <a:lstStyle/>
                    <a:p>
                      <a:r>
                        <a:rPr lang="en-US" b="1" dirty="0"/>
                        <a:t>ResNet50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0.9879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0.9879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0.9879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0.9879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7042427"/>
                  </a:ext>
                </a:extLst>
              </a:tr>
              <a:tr h="769791">
                <a:tc>
                  <a:txBody>
                    <a:bodyPr/>
                    <a:lstStyle/>
                    <a:p>
                      <a:r>
                        <a:rPr lang="en-US" b="1" dirty="0"/>
                        <a:t>VGG19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0.8910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0.8894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0.8910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0.8898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827096"/>
                  </a:ext>
                </a:extLst>
              </a:tr>
              <a:tr h="769791">
                <a:tc>
                  <a:txBody>
                    <a:bodyPr/>
                    <a:lstStyle/>
                    <a:p>
                      <a:r>
                        <a:rPr lang="en-US" b="1" dirty="0"/>
                        <a:t>InceptionV3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0.9508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0.9505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0.9508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0.9505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4645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1768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8F277-5829-D98D-C635-6DBA38391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31BE01E-3FB8-FF76-ECBA-80EDEA1DF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15963"/>
            <a:ext cx="5334000" cy="1189038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Results: Best Model</a:t>
            </a:r>
          </a:p>
        </p:txBody>
      </p:sp>
      <p:sp>
        <p:nvSpPr>
          <p:cNvPr id="9219" name="Rectangle 8">
            <a:extLst>
              <a:ext uri="{FF2B5EF4-FFF2-40B4-BE49-F238E27FC236}">
                <a16:creationId xmlns:a16="http://schemas.microsoft.com/office/drawing/2014/main" id="{4701E7A9-B823-3BEF-0D8E-5E9AE0CF05C2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>
          <a:xfrm>
            <a:off x="762000" y="1676400"/>
            <a:ext cx="11027924" cy="3276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en-US" sz="2000" dirty="0"/>
              <a:t>Fine-tuning the hyperparameters (.01 learning rate &amp; number of fine-tuning layers, 100) gave us the most accurate ResNet50 model.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FFFC906-3CFD-5ECF-4488-DC2EF3AEDA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8961" r="916" b="-16345"/>
          <a:stretch/>
        </p:blipFill>
        <p:spPr>
          <a:xfrm>
            <a:off x="0" y="5953539"/>
            <a:ext cx="12192000" cy="224498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184B66D-920A-3717-B476-1043EC28A4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1546" y="2865438"/>
            <a:ext cx="3681984" cy="281365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16DB60-7804-3FBA-1A2E-F25D62260DD6}"/>
              </a:ext>
            </a:extLst>
          </p:cNvPr>
          <p:cNvSpPr txBox="1"/>
          <p:nvPr/>
        </p:nvSpPr>
        <p:spPr>
          <a:xfrm>
            <a:off x="3200675" y="5631650"/>
            <a:ext cx="963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Epochs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F2FF07-29D1-D555-C997-5EAB7B54C6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7348" y="2865438"/>
            <a:ext cx="3617556" cy="281365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1B7F4D-01DC-C588-EB5C-97D16BD9052A}"/>
              </a:ext>
            </a:extLst>
          </p:cNvPr>
          <p:cNvSpPr txBox="1"/>
          <p:nvPr/>
        </p:nvSpPr>
        <p:spPr>
          <a:xfrm>
            <a:off x="2117096" y="2478543"/>
            <a:ext cx="328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Accuracy by Number of Epochs</a:t>
            </a:r>
          </a:p>
        </p:txBody>
      </p:sp>
    </p:spTree>
    <p:extLst>
      <p:ext uri="{BB962C8B-B14F-4D97-AF65-F5344CB8AC3E}">
        <p14:creationId xmlns:p14="http://schemas.microsoft.com/office/powerpoint/2010/main" val="3470623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E0816-B371-4B6F-45BF-63FD1A991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A90B23D-1517-7EAA-3CEB-45A39834B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715963"/>
            <a:ext cx="10668002" cy="660553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accent1">
                    <a:lumMod val="60000"/>
                    <a:lumOff val="40000"/>
                  </a:schemeClr>
                </a:solidFill>
              </a:rPr>
              <a:t>Business Model</a:t>
            </a:r>
          </a:p>
        </p:txBody>
      </p:sp>
      <p:sp>
        <p:nvSpPr>
          <p:cNvPr id="9219" name="Rectangle 8">
            <a:extLst>
              <a:ext uri="{FF2B5EF4-FFF2-40B4-BE49-F238E27FC236}">
                <a16:creationId xmlns:a16="http://schemas.microsoft.com/office/drawing/2014/main" id="{73FBA646-7FC8-1FF4-53F8-16BE53310178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>
          <a:xfrm>
            <a:off x="761999" y="1905000"/>
            <a:ext cx="11027924" cy="3276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en-US" sz="2000" dirty="0"/>
              <a:t>Application: </a:t>
            </a:r>
            <a:r>
              <a:rPr lang="en-US" altLang="en-US" sz="2000" b="0" dirty="0"/>
              <a:t>NeuroVis software will be integrated into radiology workflows to assist in early-stage brain tumor detection.</a:t>
            </a:r>
          </a:p>
          <a:p>
            <a:r>
              <a:rPr lang="en-US" altLang="en-US" sz="2000" dirty="0"/>
              <a:t>Competitors: </a:t>
            </a:r>
            <a:r>
              <a:rPr lang="en-US" altLang="en-US" sz="2000" b="0" dirty="0"/>
              <a:t>Butterfly Network, Aidoc, Tempus</a:t>
            </a:r>
          </a:p>
          <a:p>
            <a:r>
              <a:rPr lang="en-US" altLang="en-US" sz="2000" dirty="0"/>
              <a:t>Novelty: </a:t>
            </a:r>
          </a:p>
          <a:p>
            <a:pPr marL="514350" lvl="1" indent="-285750">
              <a:buFontTx/>
              <a:buChar char="-"/>
            </a:pPr>
            <a:r>
              <a:rPr lang="en-US" altLang="en-US" sz="2000" dirty="0"/>
              <a:t>Focused specifically on subtyping brain cancer tumors</a:t>
            </a:r>
          </a:p>
          <a:p>
            <a:pPr marL="514350" lvl="1" indent="-285750">
              <a:buFontTx/>
              <a:buChar char="-"/>
            </a:pPr>
            <a:r>
              <a:rPr lang="en-US" altLang="en-US" sz="2000" b="0" dirty="0"/>
              <a:t>Targeted toward D</a:t>
            </a:r>
            <a:r>
              <a:rPr lang="en-US" altLang="en-US" sz="2000" dirty="0"/>
              <a:t>oD members and VA patients</a:t>
            </a:r>
          </a:p>
          <a:p>
            <a:pPr marL="514350" lvl="1" indent="-285750">
              <a:buFontTx/>
              <a:buChar char="-"/>
            </a:pPr>
            <a:r>
              <a:rPr lang="en-US" altLang="en-US" sz="2000" b="0" dirty="0"/>
              <a:t>Most affordable and accessible on the market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0D7B981-40A9-356A-173F-CA3BF56347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8961" r="916" b="-16345"/>
          <a:stretch/>
        </p:blipFill>
        <p:spPr>
          <a:xfrm>
            <a:off x="0" y="5953539"/>
            <a:ext cx="12192000" cy="2244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467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DA3F2-15C9-E843-182B-D2B68EE1B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671E880-BCD4-B680-39EA-DA0FB5539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715963"/>
            <a:ext cx="10668002" cy="660553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accent1">
                    <a:lumMod val="60000"/>
                    <a:lumOff val="40000"/>
                  </a:schemeClr>
                </a:solidFill>
              </a:rPr>
              <a:t>Competitive Analysis &amp; Potential</a:t>
            </a:r>
          </a:p>
        </p:txBody>
      </p:sp>
      <p:sp>
        <p:nvSpPr>
          <p:cNvPr id="9219" name="Rectangle 8">
            <a:extLst>
              <a:ext uri="{FF2B5EF4-FFF2-40B4-BE49-F238E27FC236}">
                <a16:creationId xmlns:a16="http://schemas.microsoft.com/office/drawing/2014/main" id="{6E1FEA03-290B-D8B0-CB32-D493654D84DB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>
          <a:xfrm>
            <a:off x="761999" y="1905000"/>
            <a:ext cx="11027924" cy="32766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Tx/>
              <a:buChar char="-"/>
            </a:pPr>
            <a:r>
              <a:rPr lang="en-US" altLang="en-US" sz="2000" dirty="0"/>
              <a:t>Total Addressable Market (TAM): </a:t>
            </a:r>
          </a:p>
          <a:p>
            <a:pPr marL="514350" lvl="1" indent="-285750">
              <a:buFontTx/>
              <a:buChar char="-"/>
            </a:pPr>
            <a:r>
              <a:rPr lang="en-US" altLang="en-US" sz="2000" dirty="0"/>
              <a:t>~ 350,000 new brain tumor diagnoses/year * $200 per radiologist interpretation = </a:t>
            </a:r>
            <a:r>
              <a:rPr lang="en-US" altLang="en-US" sz="2000" b="1" dirty="0"/>
              <a:t>$70 million</a:t>
            </a:r>
          </a:p>
          <a:p>
            <a:pPr marL="285750" indent="-285750">
              <a:buFontTx/>
              <a:buChar char="-"/>
            </a:pPr>
            <a:r>
              <a:rPr lang="en-US" altLang="en-US" sz="2000" dirty="0"/>
              <a:t>Serviceable Addressable Market (SAM): </a:t>
            </a:r>
          </a:p>
          <a:p>
            <a:pPr marL="514350" lvl="1" indent="-285750">
              <a:buFontTx/>
              <a:buChar char="-"/>
            </a:pPr>
            <a:r>
              <a:rPr lang="en-US" altLang="en-US" sz="2000" dirty="0"/>
              <a:t>~ 8 million VA patients + 1 million active-duty = 9 million personnel</a:t>
            </a:r>
          </a:p>
          <a:p>
            <a:pPr marL="1428750" lvl="2" indent="-285750">
              <a:buFontTx/>
              <a:buChar char="-"/>
            </a:pPr>
            <a:r>
              <a:rPr lang="en-US" altLang="en-US" dirty="0"/>
              <a:t>Assume ~ 10,000 brain MRIs interpretations/year</a:t>
            </a:r>
          </a:p>
          <a:p>
            <a:pPr marL="514350" lvl="1" indent="-285750">
              <a:buFontTx/>
              <a:buChar char="-"/>
            </a:pPr>
            <a:r>
              <a:rPr lang="en-US" altLang="en-US" sz="2000" dirty="0"/>
              <a:t>10,000 * $200 = </a:t>
            </a:r>
            <a:r>
              <a:rPr lang="en-US" altLang="en-US" sz="2000" b="1" dirty="0"/>
              <a:t>$2 million/year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5D5C7D-5E73-D17E-8766-8F5693D574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8961" r="916" b="-16345"/>
          <a:stretch/>
        </p:blipFill>
        <p:spPr>
          <a:xfrm>
            <a:off x="0" y="5953539"/>
            <a:ext cx="12192000" cy="2244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4473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08B90-A14F-31D8-D83E-4D1FC4EA8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B5F9528-58D4-344E-5D6E-AD4A9FA35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715963"/>
            <a:ext cx="10668001" cy="118903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accent1">
                    <a:lumMod val="60000"/>
                    <a:lumOff val="40000"/>
                  </a:schemeClr>
                </a:solidFill>
              </a:rPr>
              <a:t>Growth Milestones &amp; Market Strategy</a:t>
            </a:r>
          </a:p>
        </p:txBody>
      </p:sp>
      <p:sp>
        <p:nvSpPr>
          <p:cNvPr id="9219" name="Rectangle 8">
            <a:extLst>
              <a:ext uri="{FF2B5EF4-FFF2-40B4-BE49-F238E27FC236}">
                <a16:creationId xmlns:a16="http://schemas.microsoft.com/office/drawing/2014/main" id="{293C1A17-970A-2F7B-D7A2-D7CE2814D01B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>
          <a:xfrm>
            <a:off x="761999" y="1593277"/>
            <a:ext cx="11027924" cy="183572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en-US" sz="2000" dirty="0"/>
              <a:t>Market Strategy:</a:t>
            </a:r>
          </a:p>
          <a:p>
            <a:pPr marL="285750" indent="-285750">
              <a:buFontTx/>
              <a:buChar char="-"/>
            </a:pPr>
            <a:r>
              <a:rPr lang="en-US" altLang="en-US" sz="2000" b="0" dirty="0"/>
              <a:t>Target government healthcare</a:t>
            </a:r>
          </a:p>
          <a:p>
            <a:pPr marL="285750" indent="-285750">
              <a:buFontTx/>
              <a:buChar char="-"/>
            </a:pPr>
            <a:r>
              <a:rPr lang="en-US" altLang="en-US" sz="2000" b="0" dirty="0"/>
              <a:t>Build trust via peer-reviewed validations</a:t>
            </a:r>
          </a:p>
          <a:p>
            <a:pPr marL="285750" indent="-285750">
              <a:buFontTx/>
              <a:buChar char="-"/>
            </a:pPr>
            <a:r>
              <a:rPr lang="en-US" altLang="en-US" sz="2000" b="0" dirty="0"/>
              <a:t>Offer free trial to academic institutions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C212AF-9B2B-177F-997A-6713ECA647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8961" r="916" b="-16345"/>
          <a:stretch/>
        </p:blipFill>
        <p:spPr>
          <a:xfrm>
            <a:off x="0" y="5953539"/>
            <a:ext cx="12192000" cy="2244989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6226994-AE85-5748-84EC-6667818BA606}"/>
              </a:ext>
            </a:extLst>
          </p:cNvPr>
          <p:cNvGrpSpPr/>
          <p:nvPr/>
        </p:nvGrpSpPr>
        <p:grpSpPr>
          <a:xfrm>
            <a:off x="727589" y="4025164"/>
            <a:ext cx="10702411" cy="1269033"/>
            <a:chOff x="688259" y="4251518"/>
            <a:chExt cx="10702411" cy="1269033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BF33918D-B54B-49B8-03C0-67877E1B027A}"/>
                </a:ext>
              </a:extLst>
            </p:cNvPr>
            <p:cNvCxnSpPr/>
            <p:nvPr/>
          </p:nvCxnSpPr>
          <p:spPr>
            <a:xfrm>
              <a:off x="914400" y="4896465"/>
              <a:ext cx="1017638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2B08A14-FD98-E809-E477-64350427DB9F}"/>
                </a:ext>
              </a:extLst>
            </p:cNvPr>
            <p:cNvCxnSpPr/>
            <p:nvPr/>
          </p:nvCxnSpPr>
          <p:spPr>
            <a:xfrm flipV="1">
              <a:off x="1710813" y="4714568"/>
              <a:ext cx="0" cy="36379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D8B805C-DD3D-5988-91C4-9E873A44639F}"/>
                </a:ext>
              </a:extLst>
            </p:cNvPr>
            <p:cNvSpPr txBox="1"/>
            <p:nvPr/>
          </p:nvSpPr>
          <p:spPr>
            <a:xfrm>
              <a:off x="761999" y="4281584"/>
              <a:ext cx="20451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b="1"/>
                <a:t>Proof-of-concept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0109B85-C707-1054-C631-0CE1AE7213FA}"/>
                </a:ext>
              </a:extLst>
            </p:cNvPr>
            <p:cNvCxnSpPr/>
            <p:nvPr/>
          </p:nvCxnSpPr>
          <p:spPr>
            <a:xfrm flipV="1">
              <a:off x="4409771" y="4714566"/>
              <a:ext cx="0" cy="36379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86B368E-E258-4556-62EE-6F070A6F043B}"/>
                </a:ext>
              </a:extLst>
            </p:cNvPr>
            <p:cNvCxnSpPr/>
            <p:nvPr/>
          </p:nvCxnSpPr>
          <p:spPr>
            <a:xfrm flipV="1">
              <a:off x="7270955" y="4714566"/>
              <a:ext cx="0" cy="36379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2F3E581-572F-6C30-1E99-9D1E21A80CBE}"/>
                </a:ext>
              </a:extLst>
            </p:cNvPr>
            <p:cNvCxnSpPr/>
            <p:nvPr/>
          </p:nvCxnSpPr>
          <p:spPr>
            <a:xfrm flipV="1">
              <a:off x="10299291" y="4714567"/>
              <a:ext cx="0" cy="36379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385EFB0-C276-4751-6B71-AF15AC4D003B}"/>
                </a:ext>
              </a:extLst>
            </p:cNvPr>
            <p:cNvSpPr txBox="1"/>
            <p:nvPr/>
          </p:nvSpPr>
          <p:spPr>
            <a:xfrm>
              <a:off x="3318391" y="4251518"/>
              <a:ext cx="21827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b="1" dirty="0"/>
                <a:t>Pilot Testing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8626F12-9983-713F-EE7C-7D0869D7031E}"/>
                </a:ext>
              </a:extLst>
            </p:cNvPr>
            <p:cNvSpPr txBox="1"/>
            <p:nvPr/>
          </p:nvSpPr>
          <p:spPr>
            <a:xfrm>
              <a:off x="6179574" y="4272374"/>
              <a:ext cx="21827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b="1" dirty="0"/>
                <a:t>FDA Submission 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FFD6D74-571D-597E-B000-B0AF0F64814A}"/>
                </a:ext>
              </a:extLst>
            </p:cNvPr>
            <p:cNvSpPr txBox="1"/>
            <p:nvPr/>
          </p:nvSpPr>
          <p:spPr>
            <a:xfrm>
              <a:off x="9207911" y="4303174"/>
              <a:ext cx="21827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b="1" dirty="0"/>
                <a:t>Licensing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387C2A6-C170-1A9C-5C90-321518C54404}"/>
                </a:ext>
              </a:extLst>
            </p:cNvPr>
            <p:cNvSpPr txBox="1"/>
            <p:nvPr/>
          </p:nvSpPr>
          <p:spPr>
            <a:xfrm>
              <a:off x="688259" y="5117561"/>
              <a:ext cx="20451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b="1"/>
                <a:t>Now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07A114A-2373-3361-F4E7-A90585859B4E}"/>
                </a:ext>
              </a:extLst>
            </p:cNvPr>
            <p:cNvSpPr txBox="1"/>
            <p:nvPr/>
          </p:nvSpPr>
          <p:spPr>
            <a:xfrm>
              <a:off x="3387217" y="5142015"/>
              <a:ext cx="20451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b="1"/>
                <a:t>Fall 2025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94BCB4D-BE9B-9345-F460-65BEAEDCBA20}"/>
                </a:ext>
              </a:extLst>
            </p:cNvPr>
            <p:cNvSpPr txBox="1"/>
            <p:nvPr/>
          </p:nvSpPr>
          <p:spPr>
            <a:xfrm>
              <a:off x="6248400" y="5151219"/>
              <a:ext cx="20451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b="1"/>
                <a:t>Fall 2026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FB49955-28DC-3D96-835D-694CEDFDB89B}"/>
                </a:ext>
              </a:extLst>
            </p:cNvPr>
            <p:cNvSpPr txBox="1"/>
            <p:nvPr/>
          </p:nvSpPr>
          <p:spPr>
            <a:xfrm>
              <a:off x="9276736" y="5117561"/>
              <a:ext cx="20451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b="1"/>
                <a:t>Spring 2027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6254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74C2B-C5D9-CA41-EFED-2E5A74055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12395-0E80-700E-C242-106B93DDB0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The future of brain tumor classification is here with NeuroVis.</a:t>
            </a:r>
          </a:p>
          <a:p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Please consider an investment in this revolutionary company.</a:t>
            </a:r>
          </a:p>
        </p:txBody>
      </p:sp>
    </p:spTree>
    <p:extLst>
      <p:ext uri="{BB962C8B-B14F-4D97-AF65-F5344CB8AC3E}">
        <p14:creationId xmlns:p14="http://schemas.microsoft.com/office/powerpoint/2010/main" val="2152588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04591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96B3E-60EC-FD87-6730-A0498612E3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Backup Slides</a:t>
            </a:r>
          </a:p>
        </p:txBody>
      </p:sp>
    </p:spTree>
    <p:extLst>
      <p:ext uri="{BB962C8B-B14F-4D97-AF65-F5344CB8AC3E}">
        <p14:creationId xmlns:p14="http://schemas.microsoft.com/office/powerpoint/2010/main" val="31129551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72A86-A82C-4E96-87AD-76D0CF4AB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3D244-EFE0-6947-E55E-F7A8757D2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spcAft>
                <a:spcPts val="1200"/>
              </a:spcAft>
              <a:buNone/>
            </a:pPr>
            <a:r>
              <a:rPr lang="en-US" dirty="0"/>
              <a:t>Ilic, Irena, and Milena Ilic. "International Patterns and Trends in the Brain Cancer Incidence and Mortality: An Observational Study Based on the Global Burden of Disease." </a:t>
            </a:r>
            <a:r>
              <a:rPr lang="en-US" i="1" dirty="0" err="1"/>
              <a:t>Heliyon</a:t>
            </a:r>
            <a:r>
              <a:rPr lang="en-US" dirty="0"/>
              <a:t>, vol. 9, no. 7, 2023, p. e18222. https://doi.org/10.1016/j.heliyon.2023.e18222.</a:t>
            </a:r>
          </a:p>
          <a:p>
            <a:pPr>
              <a:spcAft>
                <a:spcPts val="1200"/>
              </a:spcAft>
              <a:buNone/>
            </a:pPr>
            <a:r>
              <a:rPr lang="en-US" dirty="0" err="1"/>
              <a:t>Nickparvar</a:t>
            </a:r>
            <a:r>
              <a:rPr lang="en-US" dirty="0"/>
              <a:t>, Masoud. </a:t>
            </a:r>
            <a:r>
              <a:rPr lang="en-US" i="1" dirty="0"/>
              <a:t>Brain Tumor MRI Dataset</a:t>
            </a:r>
            <a:r>
              <a:rPr lang="en-US" dirty="0"/>
              <a:t>. Kaggle, </a:t>
            </a:r>
            <a:r>
              <a:rPr lang="en-US" dirty="0">
                <a:hlinkClick r:id="rId2"/>
              </a:rPr>
              <a:t>https://www.kaggle.com/datasets/masoudnickparvar/brain-tumor-mri-dataset</a:t>
            </a:r>
            <a:r>
              <a:rPr lang="en-US" dirty="0"/>
              <a:t>. Accessed 30 Apr. 2025.</a:t>
            </a:r>
          </a:p>
          <a:p>
            <a:pPr>
              <a:spcAft>
                <a:spcPts val="1200"/>
              </a:spcAft>
              <a:buNone/>
            </a:pPr>
            <a:r>
              <a:rPr lang="en-US" dirty="0"/>
              <a:t>Ruby Hall Clinic. "Early Detection in Brain Tumor Diagnosis." </a:t>
            </a:r>
            <a:r>
              <a:rPr lang="en-US" i="1" dirty="0"/>
              <a:t>Ruby Hall Clinic – </a:t>
            </a:r>
            <a:r>
              <a:rPr lang="en-US" i="1" dirty="0" err="1"/>
              <a:t>Hinjawadi</a:t>
            </a:r>
            <a:r>
              <a:rPr lang="en-US" dirty="0"/>
              <a:t>, </a:t>
            </a:r>
            <a:r>
              <a:rPr lang="en-US" dirty="0">
                <a:hlinkClick r:id="rId3"/>
              </a:rPr>
              <a:t>https://hinjawadi.rubyhall.com/early-detection-in-brain-tumor-diagnosis/</a:t>
            </a:r>
            <a:r>
              <a:rPr lang="en-US" dirty="0"/>
              <a:t>. Accessed 30 Apr. 2025.</a:t>
            </a:r>
          </a:p>
          <a:p>
            <a:pPr>
              <a:spcAft>
                <a:spcPts val="1200"/>
              </a:spcAft>
              <a:buNone/>
            </a:pPr>
            <a:r>
              <a:rPr lang="en-US" dirty="0"/>
              <a:t>Rosenthal, Jeanne Pinder. "How Much Does an MRI Cost?" </a:t>
            </a:r>
            <a:r>
              <a:rPr lang="en-US" i="1" dirty="0" err="1"/>
              <a:t>ClearHealthCosts</a:t>
            </a:r>
            <a:r>
              <a:rPr lang="en-US" dirty="0"/>
              <a:t>, 30 Nov. 2012, </a:t>
            </a:r>
            <a:r>
              <a:rPr lang="en-US" dirty="0">
                <a:hlinkClick r:id="rId4"/>
              </a:rPr>
              <a:t>https://clearhealthcosts.com/blog/2012/11/how-much-does-an-mri-cost-2/</a:t>
            </a:r>
            <a:r>
              <a:rPr lang="en-US" dirty="0"/>
              <a:t>. Accessed 30 Apr. 2025.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dirty="0"/>
              <a:t>Jones, Bradley. "The Changing Face of America’s Veteran Population." </a:t>
            </a:r>
            <a:r>
              <a:rPr lang="en-US" i="1" dirty="0"/>
              <a:t>Pew Research Center</a:t>
            </a:r>
            <a:r>
              <a:rPr lang="en-US" dirty="0"/>
              <a:t>, 8 	Nov. 2023, </a:t>
            </a:r>
            <a:r>
              <a:rPr lang="en-US" dirty="0">
                <a:hlinkClick r:id="rId5"/>
              </a:rPr>
              <a:t>https://www.pewresearch.org/short-reads/2023/11/08/the-changing-face-	of-</a:t>
            </a:r>
            <a:r>
              <a:rPr lang="en-US" dirty="0" err="1">
                <a:hlinkClick r:id="rId5"/>
              </a:rPr>
              <a:t>americas</a:t>
            </a:r>
            <a:r>
              <a:rPr lang="en-US" dirty="0">
                <a:hlinkClick r:id="rId5"/>
              </a:rPr>
              <a:t>-veteran-population/</a:t>
            </a:r>
            <a:r>
              <a:rPr lang="en-US" dirty="0"/>
              <a:t>. Accessed 30 Apr. 2025.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757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684</Words>
  <Application>Microsoft Office PowerPoint</Application>
  <PresentationFormat>Widescreen</PresentationFormat>
  <Paragraphs>100</Paragraphs>
  <Slides>17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MA477 Project 3  CDT Ethan Collins &amp; CDT Ireland McCauley</vt:lpstr>
      <vt:lpstr>Meet the Team</vt:lpstr>
      <vt:lpstr>Problem</vt:lpstr>
      <vt:lpstr>Objective</vt:lpstr>
      <vt:lpstr>Pitch</vt:lpstr>
      <vt:lpstr>Data Description</vt:lpstr>
      <vt:lpstr>Example Images</vt:lpstr>
      <vt:lpstr>Methodology</vt:lpstr>
      <vt:lpstr>Results</vt:lpstr>
      <vt:lpstr>Results: Best Model</vt:lpstr>
      <vt:lpstr>Business Model</vt:lpstr>
      <vt:lpstr>Competitive Analysis &amp; Potential</vt:lpstr>
      <vt:lpstr>Growth Milestones &amp; Market Strategy</vt:lpstr>
      <vt:lpstr>Conclusion</vt:lpstr>
      <vt:lpstr>PowerPoint Presentation</vt:lpstr>
      <vt:lpstr>Backup Slides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Collins, Ethan C CDT 2026</dc:creator>
  <cp:lastModifiedBy>Collins, Ethan C CDT 2026</cp:lastModifiedBy>
  <cp:revision>9</cp:revision>
  <dcterms:created xsi:type="dcterms:W3CDTF">2025-04-29T11:44:36Z</dcterms:created>
  <dcterms:modified xsi:type="dcterms:W3CDTF">2025-12-07T22:12:13Z</dcterms:modified>
</cp:coreProperties>
</file>